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7"/>
    <p:sldId id="257" r:id="rId8"/>
    <p:sldId id="277" r:id="rIdPerc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8" r:id="rIdNewark2"/>
    <p:sldId id="276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30"/>
  </p:normalViewPr>
  <p:slideViewPr>
    <p:cSldViewPr snapToGrid="0" snapToObjects="1">
      <p:cViewPr varScale="1">
        <p:scale>
          <a:sx n="113" d="100"/>
          <a:sy n="113" d="100"/>
        </p:scale>
        <p:origin x="5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Perc" Type="http://schemas.openxmlformats.org/officeDocument/2006/relationships/slide" Target="slides/slide22.xml"/><Relationship Id="rIdNewark2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84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R7img" Type="http://schemas.openxmlformats.org/officeDocument/2006/relationships/image" Target="../media/image_r7_newark.png"/><Relationship Id="rIdR7" Type="http://schemas.openxmlformats.org/officeDocument/2006/relationships/hyperlink" Target="https://noticias.r7.com/educacao/escola-nos-eua-causa-polemica-ao-virar-cobaia-e-adotar-inteligencia-artificial-que-dispensa-professor-09072023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R7" Type="http://schemas.openxmlformats.org/officeDocument/2006/relationships/hyperlink" Target="https://noticias.r7.com/educacao/escola-nos-eua-causa-polemica-ao-virar-cobaia-e-adotar-inteligencia-artificial-que-dispensa-professor-09072023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858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Humus Educação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86868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7ED957"/>
                </a:solidFill>
                <a:latin typeface="Calibri"/>
              </a:rPr>
              <a:t>IA para gestores escolares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154680"/>
            <a:ext cx="384048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81144" y="3113532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7315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A inteligência artificial na prática da liderança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72000"/>
            <a:ext cx="73152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C9D6E0"/>
                </a:solidFill>
                <a:latin typeface="Calibri"/>
              </a:rPr>
              <a:t>Profa. Dra. Mary Grace Pereira Andrioli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18288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9ABE2"/>
                </a:solidFill>
                <a:latin typeface="Calibri"/>
              </a:rPr>
              <a:t>FUNDAMENTOS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40280"/>
            <a:ext cx="868680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Fundamentos, panorama e cultura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703320"/>
            <a:ext cx="32918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443984" y="3662172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886200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7ED957"/>
                </a:solidFill>
                <a:latin typeface="Calibri"/>
              </a:rPr>
              <a:t>Vocabulário para decidir, e não apenas para operar.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663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Primeiro, compreender. Depois, testar. Por fim, decidir como implementar.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Três formas de IA </a:t>
            </a:r>
            <a:r>
              <a:rPr sz="3600" b="1">
                <a:solidFill>
                  <a:srgbClr val="FFFFFF"/>
                </a:solidFill>
                <a:latin typeface="Calibri"/>
              </a:rPr>
              <a:t>convivem na escola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Cada uma responde a um tipo de pedido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3383279" cy="2743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PREVER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IA preditiva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"O que vai acontecer?" Classifica, prevê e recomenda.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65960"/>
            <a:ext cx="3383279" cy="2743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PRODUZIR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IA generativa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"Produza para mim." Cria texto, imagem e áudio.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965960"/>
            <a:ext cx="3383279" cy="2743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EXECUTAR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IA agêntica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"Resolva este processo." Planeja e executa etapas.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37760"/>
            <a:ext cx="10607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Pergunta: </a:t>
            </a:r>
            <a:r>
              <a:rPr sz="2000" b="0">
                <a:solidFill>
                  <a:srgbClr val="FFFFFF"/>
                </a:solidFill>
                <a:latin typeface="Calibri"/>
              </a:rPr>
              <a:t>o que os sistemas já contratados pela escola decidem sozinhos?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IA preditiva: </a:t>
            </a:r>
            <a:r>
              <a:rPr sz="3600" b="1">
                <a:solidFill>
                  <a:srgbClr val="FFFFFF"/>
                </a:solidFill>
                <a:latin typeface="Calibri"/>
              </a:rPr>
              <a:t>prever a partir do passado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Ela não cria conteúdo: encontra padrões em dados já existentes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20240"/>
            <a:ext cx="4206240" cy="324612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PREVER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Como funciona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Aprende padrões em dados históricos e devolve uma classificação, uma previsão ou uma recomendação.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874519"/>
            <a:ext cx="6126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NA ESCOLA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240280"/>
            <a:ext cx="6126480" cy="3017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●  </a:t>
            </a:r>
            <a:r>
              <a:rPr sz="2000" b="0">
                <a:solidFill>
                  <a:srgbClr val="FFFFFF"/>
                </a:solidFill>
                <a:latin typeface="Calibri"/>
              </a:rPr>
              <a:t>Alerta de risco de evasão (frequência e notas)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●  </a:t>
            </a:r>
            <a:r>
              <a:rPr sz="2000" b="0">
                <a:solidFill>
                  <a:srgbClr val="FFFFFF"/>
                </a:solidFill>
                <a:latin typeface="Calibri"/>
              </a:rPr>
              <a:t>Trilhas sugeridas por plataformas adaptativas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●  </a:t>
            </a:r>
            <a:r>
              <a:rPr sz="2000" b="0">
                <a:solidFill>
                  <a:srgbClr val="FFFFFF"/>
                </a:solidFill>
                <a:latin typeface="Calibri"/>
              </a:rPr>
              <a:t>Correção de itens objetivos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●  </a:t>
            </a:r>
            <a:r>
              <a:rPr sz="2000" b="0">
                <a:solidFill>
                  <a:srgbClr val="FFFFFF"/>
                </a:solidFill>
                <a:latin typeface="Calibri"/>
              </a:rPr>
              <a:t>Previsão de rematrículas e de formação de turmas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03520"/>
            <a:ext cx="10607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Cuidado: </a:t>
            </a:r>
            <a:r>
              <a:rPr sz="2000" b="0">
                <a:solidFill>
                  <a:srgbClr val="FFFFFF"/>
                </a:solidFill>
                <a:latin typeface="Calibri"/>
              </a:rPr>
              <a:t>dado enviesado gera rótulo injusto; decisão sobre estudante exige revisão humana.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IA generativa: </a:t>
            </a:r>
            <a:r>
              <a:rPr sz="3600" b="1">
                <a:solidFill>
                  <a:srgbClr val="FFFFFF"/>
                </a:solidFill>
                <a:latin typeface="Calibri"/>
              </a:rPr>
              <a:t>produzir a partir de um pedido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Ela cria algo novo, escolhendo o que é mais provável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20240"/>
            <a:ext cx="4206240" cy="324612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PRODUZIR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Como funciona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Recebe uma instrução e produz texto, imagem, áudio ou código novos, palavra por palavra.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874519"/>
            <a:ext cx="6126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NA ESCOLA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240280"/>
            <a:ext cx="6126480" cy="3017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●  </a:t>
            </a:r>
            <a:r>
              <a:rPr sz="2000" b="0">
                <a:solidFill>
                  <a:srgbClr val="FFFFFF"/>
                </a:solidFill>
                <a:latin typeface="Calibri"/>
              </a:rPr>
              <a:t>Comunicado em versões para famílias, equipe e redes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●  </a:t>
            </a:r>
            <a:r>
              <a:rPr sz="2000" b="0">
                <a:solidFill>
                  <a:srgbClr val="FFFFFF"/>
                </a:solidFill>
                <a:latin typeface="Calibri"/>
              </a:rPr>
              <a:t>Ata a partir da transcrição da reunião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●  </a:t>
            </a:r>
            <a:r>
              <a:rPr sz="2000" b="0">
                <a:solidFill>
                  <a:srgbClr val="FFFFFF"/>
                </a:solidFill>
                <a:latin typeface="Calibri"/>
              </a:rPr>
              <a:t>Rubricas e variações de uma atividade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●  </a:t>
            </a:r>
            <a:r>
              <a:rPr sz="2000" b="0">
                <a:solidFill>
                  <a:srgbClr val="FFFFFF"/>
                </a:solidFill>
                <a:latin typeface="Calibri"/>
              </a:rPr>
              <a:t>Resumo de documentos longos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03520"/>
            <a:ext cx="10607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Cuidado: </a:t>
            </a:r>
            <a:r>
              <a:rPr sz="2000" b="0">
                <a:solidFill>
                  <a:srgbClr val="FFFFFF"/>
                </a:solidFill>
                <a:latin typeface="Calibri"/>
              </a:rPr>
              <a:t>inventa com segurança e tende ao tom genérico. Quem assina, revisa.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Quatro noções </a:t>
            </a:r>
            <a:r>
              <a:rPr sz="3600" b="1">
                <a:solidFill>
                  <a:srgbClr val="FFFFFF"/>
                </a:solidFill>
                <a:latin typeface="Calibri"/>
              </a:rPr>
              <a:t>que explicam acertos e erros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Não é preciso entender de tecnologia, mas saber o que esperar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20240"/>
            <a:ext cx="5166360" cy="1600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Predição provável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Compõe a resposta mais provável, não a verdadeira.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166360" cy="1600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Alucinação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A fluência que convence também inventa leis e autores.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03320"/>
            <a:ext cx="5166360" cy="1600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Janela de contexto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Conversa longa esgota o que a IA "enxerga".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703320"/>
            <a:ext cx="5166360" cy="1600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Corte de conhecimento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Pode não conhecer a norma ou o calendário recentes.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Três limites </a:t>
            </a:r>
            <a:r>
              <a:rPr sz="3600" b="1">
                <a:solidFill>
                  <a:srgbClr val="FFFFFF"/>
                </a:solidFill>
                <a:latin typeface="Calibri"/>
              </a:rPr>
              <a:t>que pesam para quem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O que o Referencial do MEC (2026) destaca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3383279" cy="292608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Não compreende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Não formula intenções nem exerce juízo.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65960"/>
            <a:ext cx="3383279" cy="292608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Confirma premissas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Tende a concordar com quem pergunta, mesmo com premissas frágeis.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965960"/>
            <a:ext cx="3383279" cy="292608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É caixa-preta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Não se acompanha o caminho interno de uma resposta.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5806440"/>
            <a:ext cx="95097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9D6E0"/>
                </a:solidFill>
                <a:latin typeface="Calibri"/>
              </a:rPr>
              <a:t>Referencial para Desenvolvimento e Uso Responsáveis de IA na Educação, MEC,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IA agêntica: </a:t>
            </a:r>
            <a:r>
              <a:rPr sz="3600" b="1">
                <a:solidFill>
                  <a:srgbClr val="FFFFFF"/>
                </a:solidFill>
                <a:latin typeface="Calibri"/>
              </a:rPr>
              <a:t>delegar um processo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Ela não só responde: age, usando ferramentas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20240"/>
            <a:ext cx="4206240" cy="324612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EXECUTAR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Como funciona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Recebe um objetivo, planeja as etapas, usa ferramentas (arquivos, e-mail, agenda, navegador) e executa até entregar.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874519"/>
            <a:ext cx="6126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NA ESCOLA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240280"/>
            <a:ext cx="6126480" cy="3017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●  </a:t>
            </a:r>
            <a:r>
              <a:rPr sz="2000" b="0">
                <a:solidFill>
                  <a:srgbClr val="FFFFFF"/>
                </a:solidFill>
                <a:latin typeface="Calibri"/>
              </a:rPr>
              <a:t>Conferir um lote de planos e preparar devolutivas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●  </a:t>
            </a:r>
            <a:r>
              <a:rPr sz="2000" b="0">
                <a:solidFill>
                  <a:srgbClr val="FFFFFF"/>
                </a:solidFill>
                <a:latin typeface="Calibri"/>
              </a:rPr>
              <a:t>Organizar a comunicação da semana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●  </a:t>
            </a:r>
            <a:r>
              <a:rPr sz="2000" b="0">
                <a:solidFill>
                  <a:srgbClr val="FFFFFF"/>
                </a:solidFill>
                <a:latin typeface="Calibri"/>
              </a:rPr>
              <a:t>Triar a caixa de entrada da secretaria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●  </a:t>
            </a:r>
            <a:r>
              <a:rPr sz="2000" b="0">
                <a:solidFill>
                  <a:srgbClr val="FFFFFF"/>
                </a:solidFill>
                <a:latin typeface="Calibri"/>
              </a:rPr>
              <a:t>Montar relatórios a partir de planilhas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03520"/>
            <a:ext cx="10607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Cuidado: </a:t>
            </a:r>
            <a:r>
              <a:rPr sz="2000" b="0">
                <a:solidFill>
                  <a:srgbClr val="FFFFFF"/>
                </a:solidFill>
                <a:latin typeface="Calibri"/>
              </a:rPr>
              <a:t>quanto mais autonomia, mais claro deve estar onde uma pessoa aprova.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Assistente </a:t>
            </a:r>
            <a:r>
              <a:rPr sz="3600" b="1">
                <a:solidFill>
                  <a:srgbClr val="FFFFFF"/>
                </a:solidFill>
                <a:latin typeface="Calibri"/>
              </a:rPr>
              <a:t>ou agente?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A diferença está em quem conduz as etapas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20240"/>
            <a:ext cx="5166360" cy="2743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ASSISTENTE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Você conduz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Você pede, ele responde, uma etapa por vez. Ex.: projeto que redige comunicados no tom da escola.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166360" cy="2743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AGENTE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Ele conduz, você aprova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Você dá o objetivo; ele planeja, usa ferramentas, executa e para nos pontos combinados.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92040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O modelo é o cérebro; o agente é o corpo: </a:t>
            </a:r>
            <a:r>
              <a:rPr sz="2000" b="0">
                <a:solidFill>
                  <a:srgbClr val="FFFFFF"/>
                </a:solidFill>
                <a:latin typeface="Calibri"/>
              </a:rPr>
              <a:t>instruções, ferramentas e memória em torno do modelo.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O que é um agente </a:t>
            </a:r>
            <a:r>
              <a:rPr sz="3600" b="1">
                <a:solidFill>
                  <a:srgbClr val="FFFFFF"/>
                </a:solidFill>
                <a:latin typeface="Calibri"/>
              </a:rPr>
              <a:t>no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Quatro peças que trabalham juntas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2480310" cy="2743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1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7ED957"/>
                </a:solidFill>
                <a:latin typeface="Calibri"/>
              </a:rPr>
              <a:t>Modelo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O Claude, que lê, raciocina e escreve.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6150" y="1965960"/>
            <a:ext cx="2480310" cy="2743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2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7ED957"/>
                </a:solidFill>
                <a:latin typeface="Calibri"/>
              </a:rPr>
              <a:t>Instruções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Projeto ou skill com papel, regras e critérios da escola.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59" y="1965960"/>
            <a:ext cx="2480310" cy="2743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3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7ED957"/>
                </a:solidFill>
                <a:latin typeface="Calibri"/>
              </a:rPr>
              <a:t>Ferramentas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Drive, Gmail, Agenda, pastas do computador, extensão do Chrome.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3969" y="1965960"/>
            <a:ext cx="2480310" cy="2743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4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7ED957"/>
                </a:solidFill>
                <a:latin typeface="Calibri"/>
              </a:rPr>
              <a:t>Ciclo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Planeja, executa, confere e pede aprovação.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92040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Na prática: </a:t>
            </a:r>
            <a:r>
              <a:rPr sz="2000" b="0">
                <a:solidFill>
                  <a:srgbClr val="FFFFFF"/>
                </a:solidFill>
                <a:latin typeface="Calibri"/>
              </a:rPr>
              <a:t>você descreve o objetivo, ele mostra o plano, você aprova, ele executa e relata o que fez.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Um agente, um processo: </a:t>
            </a:r>
            <a:r>
              <a:rPr sz="3600" b="1">
                <a:solidFill>
                  <a:srgbClr val="FFFFFF"/>
                </a:solidFill>
                <a:latin typeface="Calibri"/>
              </a:rPr>
              <a:t>conferência de planos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Simulação: 12 planos de aula entregues na sexta-feira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1858060" cy="260604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AGENTE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Lê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Abre os 12 planos na pasta do Drive.</a:t>
            </a:r>
          </a:p>
        </p:txBody>
      </p:sp>
      <p:sp>
        <p:nvSpPr>
          <p:cNvPr id="8" name="Chevron 7"/>
          <p:cNvSpPr/>
          <p:nvPr/>
        </p:nvSpPr>
        <p:spPr>
          <a:xfrm>
            <a:off x="2699308" y="3086100"/>
            <a:ext cx="201168" cy="365760"/>
          </a:xfrm>
          <a:prstGeom prst="chevron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64484" y="1965960"/>
            <a:ext cx="1858060" cy="260604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AGENTE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Confere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Aplica o checklist da escola a cada plano.</a:t>
            </a:r>
          </a:p>
        </p:txBody>
      </p:sp>
      <p:sp>
        <p:nvSpPr>
          <p:cNvPr id="10" name="Chevron 9"/>
          <p:cNvSpPr/>
          <p:nvPr/>
        </p:nvSpPr>
        <p:spPr>
          <a:xfrm>
            <a:off x="4886553" y="3086100"/>
            <a:ext cx="201168" cy="365760"/>
          </a:xfrm>
          <a:prstGeom prst="chevron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51729" y="1965960"/>
            <a:ext cx="1858060" cy="260604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AGENTE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Sintetiza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Tabela com as lacunas mais frequentes.</a:t>
            </a:r>
          </a:p>
        </p:txBody>
      </p:sp>
      <p:sp>
        <p:nvSpPr>
          <p:cNvPr id="12" name="Chevron 11"/>
          <p:cNvSpPr/>
          <p:nvPr/>
        </p:nvSpPr>
        <p:spPr>
          <a:xfrm>
            <a:off x="7073798" y="3086100"/>
            <a:ext cx="201168" cy="365760"/>
          </a:xfrm>
          <a:prstGeom prst="chevron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38974" y="1965960"/>
            <a:ext cx="1858060" cy="260604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AGENTE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Redige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Rascunho de devolutiva por professor.</a:t>
            </a:r>
          </a:p>
        </p:txBody>
      </p:sp>
      <p:sp>
        <p:nvSpPr>
          <p:cNvPr id="14" name="Chevron 13"/>
          <p:cNvSpPr/>
          <p:nvPr/>
        </p:nvSpPr>
        <p:spPr>
          <a:xfrm>
            <a:off x="9261043" y="3086100"/>
            <a:ext cx="201168" cy="365760"/>
          </a:xfrm>
          <a:prstGeom prst="chevron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526219" y="1965960"/>
            <a:ext cx="1858060" cy="260604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31750">
            <a:solidFill>
              <a:srgbClr val="7ED9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PESSOA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Coordenação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Revisa, ajusta e envia.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46320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Ferramentas: </a:t>
            </a:r>
            <a:r>
              <a:rPr sz="2000" b="0">
                <a:solidFill>
                  <a:srgbClr val="FFFFFF"/>
                </a:solidFill>
                <a:latin typeface="Calibri"/>
              </a:rPr>
              <a:t>Drive para ler, checklist nas instruções, Gmail apenas para rascunhos.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Vários agentes: </a:t>
            </a:r>
            <a:r>
              <a:rPr sz="3600" b="1">
                <a:solidFill>
                  <a:srgbClr val="FFFFFF"/>
                </a:solidFill>
                <a:latin typeface="Calibri"/>
              </a:rPr>
              <a:t>comunicação da semana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Simulação: cada agente faz uma parte e passa adiante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1858060" cy="260604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AGENTE AGENDA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Levanta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Lista os eventos da semana no calendário.</a:t>
            </a:r>
          </a:p>
        </p:txBody>
      </p:sp>
      <p:sp>
        <p:nvSpPr>
          <p:cNvPr id="8" name="Chevron 7"/>
          <p:cNvSpPr/>
          <p:nvPr/>
        </p:nvSpPr>
        <p:spPr>
          <a:xfrm>
            <a:off x="2699308" y="3086100"/>
            <a:ext cx="201168" cy="365760"/>
          </a:xfrm>
          <a:prstGeom prst="chevron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64484" y="1965960"/>
            <a:ext cx="1858060" cy="260604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AGENTE REDATOR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Escreve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Comunicado no tom de voz da escola.</a:t>
            </a:r>
          </a:p>
        </p:txBody>
      </p:sp>
      <p:sp>
        <p:nvSpPr>
          <p:cNvPr id="10" name="Chevron 9"/>
          <p:cNvSpPr/>
          <p:nvPr/>
        </p:nvSpPr>
        <p:spPr>
          <a:xfrm>
            <a:off x="4886553" y="3086100"/>
            <a:ext cx="201168" cy="365760"/>
          </a:xfrm>
          <a:prstGeom prst="chevron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51729" y="1965960"/>
            <a:ext cx="1858060" cy="260604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AGENTE ADAPTADOR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Adapta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Versões para famílias, equipe e redes.</a:t>
            </a:r>
          </a:p>
        </p:txBody>
      </p:sp>
      <p:sp>
        <p:nvSpPr>
          <p:cNvPr id="12" name="Chevron 11"/>
          <p:cNvSpPr/>
          <p:nvPr/>
        </p:nvSpPr>
        <p:spPr>
          <a:xfrm>
            <a:off x="7073798" y="3086100"/>
            <a:ext cx="201168" cy="365760"/>
          </a:xfrm>
          <a:prstGeom prst="chevron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38974" y="1965960"/>
            <a:ext cx="1858060" cy="260604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31750">
            <a:solidFill>
              <a:srgbClr val="7ED9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PESSOA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Direção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Aprova o texto final.</a:t>
            </a:r>
          </a:p>
        </p:txBody>
      </p:sp>
      <p:sp>
        <p:nvSpPr>
          <p:cNvPr id="14" name="Chevron 13"/>
          <p:cNvSpPr/>
          <p:nvPr/>
        </p:nvSpPr>
        <p:spPr>
          <a:xfrm>
            <a:off x="9261043" y="3086100"/>
            <a:ext cx="201168" cy="365760"/>
          </a:xfrm>
          <a:prstGeom prst="chevron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526219" y="1965960"/>
            <a:ext cx="1858060" cy="260604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AGENTE PUBLICADOR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Prepara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Deixa e-mails em rascunho e posts agendados.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46320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Regra: </a:t>
            </a:r>
            <a:r>
              <a:rPr sz="2000" b="0">
                <a:solidFill>
                  <a:srgbClr val="FFFFFF"/>
                </a:solidFill>
                <a:latin typeface="Calibri"/>
              </a:rPr>
              <a:t>cada agente tem uma tarefa e um limite. Nenhum envia sem aprovação.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Quando há dado pessoal: </a:t>
            </a:r>
            <a:r>
              <a:rPr sz="3600" b="1">
                <a:solidFill>
                  <a:srgbClr val="FFFFFF"/>
                </a:solidFill>
                <a:latin typeface="Calibri"/>
              </a:rPr>
              <a:t>triagem da secretaria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Simulação: e-mails de famílias na segunda-feira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1858060" cy="260604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AGENTE TRIAGEM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Classifica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Separa os e-mails por assunto.</a:t>
            </a:r>
          </a:p>
        </p:txBody>
      </p:sp>
      <p:sp>
        <p:nvSpPr>
          <p:cNvPr id="8" name="Chevron 7"/>
          <p:cNvSpPr/>
          <p:nvPr/>
        </p:nvSpPr>
        <p:spPr>
          <a:xfrm>
            <a:off x="2699308" y="3086100"/>
            <a:ext cx="201168" cy="365760"/>
          </a:xfrm>
          <a:prstGeom prst="chevron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64484" y="1965960"/>
            <a:ext cx="1858060" cy="260604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AGENTE RESPOSTAS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Rascunha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Respostas para dúvidas frequentes.</a:t>
            </a:r>
          </a:p>
        </p:txBody>
      </p:sp>
      <p:sp>
        <p:nvSpPr>
          <p:cNvPr id="10" name="Chevron 9"/>
          <p:cNvSpPr/>
          <p:nvPr/>
        </p:nvSpPr>
        <p:spPr>
          <a:xfrm>
            <a:off x="4886553" y="3086100"/>
            <a:ext cx="201168" cy="365760"/>
          </a:xfrm>
          <a:prstGeom prst="chevron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51729" y="1965960"/>
            <a:ext cx="1858060" cy="260604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AGENTE AGENDA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Propõe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Horários para reuniões pedidas.</a:t>
            </a:r>
          </a:p>
        </p:txBody>
      </p:sp>
      <p:sp>
        <p:nvSpPr>
          <p:cNvPr id="12" name="Chevron 11"/>
          <p:cNvSpPr/>
          <p:nvPr/>
        </p:nvSpPr>
        <p:spPr>
          <a:xfrm>
            <a:off x="7073798" y="3086100"/>
            <a:ext cx="201168" cy="365760"/>
          </a:xfrm>
          <a:prstGeom prst="chevron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38974" y="1965960"/>
            <a:ext cx="1858060" cy="260604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31750">
            <a:solidFill>
              <a:srgbClr val="7ED9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PESSOA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Secretaria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Confere e envia as respostas.</a:t>
            </a:r>
          </a:p>
        </p:txBody>
      </p:sp>
      <p:sp>
        <p:nvSpPr>
          <p:cNvPr id="14" name="Chevron 13"/>
          <p:cNvSpPr/>
          <p:nvPr/>
        </p:nvSpPr>
        <p:spPr>
          <a:xfrm>
            <a:off x="9261043" y="3086100"/>
            <a:ext cx="201168" cy="365760"/>
          </a:xfrm>
          <a:prstGeom prst="chevron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526219" y="1965960"/>
            <a:ext cx="1858060" cy="260604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31750">
            <a:solidFill>
              <a:srgbClr val="7ED9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PESSOA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Casos sensíveis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Saúde, conflito e financeiro vão direto à equipe.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46320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Antes de usar: </a:t>
            </a:r>
            <a:r>
              <a:rPr sz="2000" b="0">
                <a:solidFill>
                  <a:srgbClr val="FFFFFF"/>
                </a:solidFill>
                <a:latin typeface="Calibri"/>
              </a:rPr>
              <a:t>conta corporativa, política de uso e regra sobre dados pessoais.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A receita de um agente </a:t>
            </a:r>
            <a:r>
              <a:rPr sz="3600" b="1">
                <a:solidFill>
                  <a:srgbClr val="FFFFFF"/>
                </a:solidFill>
                <a:latin typeface="Calibri"/>
              </a:rPr>
              <a:t>em seis campos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Vale para qualquer ferramenta e é a base dos prompts de todos os roteiros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612648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Papel: </a:t>
            </a:r>
            <a:r>
              <a:rPr sz="2400" b="0">
                <a:solidFill>
                  <a:srgbClr val="FFFFFF"/>
                </a:solidFill>
                <a:latin typeface="Calibri"/>
              </a:rPr>
              <a:t>quem a IA é neste trabalho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Fontes: </a:t>
            </a:r>
            <a:r>
              <a:rPr sz="2400" b="0">
                <a:solidFill>
                  <a:srgbClr val="FFFFFF"/>
                </a:solidFill>
                <a:latin typeface="Calibri"/>
              </a:rPr>
              <a:t>o que pode e o que não pode usar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Tarefa: </a:t>
            </a:r>
            <a:r>
              <a:rPr sz="2400" b="0">
                <a:solidFill>
                  <a:srgbClr val="FFFFFF"/>
                </a:solidFill>
                <a:latin typeface="Calibri"/>
              </a:rPr>
              <a:t>o que exatamente deve fazer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Critérios: </a:t>
            </a:r>
            <a:r>
              <a:rPr sz="2400" b="0">
                <a:solidFill>
                  <a:srgbClr val="FFFFFF"/>
                </a:solidFill>
                <a:latin typeface="Calibri"/>
              </a:rPr>
              <a:t>o que é qualidade aqui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Formato: </a:t>
            </a:r>
            <a:r>
              <a:rPr sz="2400" b="0">
                <a:solidFill>
                  <a:srgbClr val="FFFFFF"/>
                </a:solidFill>
                <a:latin typeface="Calibri"/>
              </a:rPr>
              <a:t>em que formato entregar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920240"/>
            <a:ext cx="4251960" cy="338328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O SEXTO CAMPO: LIMITES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7ED957"/>
                </a:solidFill>
                <a:latin typeface="Calibri"/>
              </a:rPr>
              <a:t>Onde a máquina para e uma pessoa assume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É o campo que quase ninguém escreve, e o que transforma uso improvisado em processo.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Não existe a melhor IA. </a:t>
            </a:r>
            <a:r>
              <a:rPr sz="3600" b="1">
                <a:solidFill>
                  <a:srgbClr val="FFFFFF"/>
                </a:solidFill>
                <a:latin typeface="Calibri"/>
              </a:rPr>
              <a:t>Existe a mais adequada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Pergunte sempre: qual ferramenta e qual modelo?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2480310" cy="22860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Claude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Documentos longos, projetos, artefatos e agentes.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6150" y="1965960"/>
            <a:ext cx="2480310" cy="22860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ChatGPT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Uso geral e porta de entrada.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59" y="1965960"/>
            <a:ext cx="2480310" cy="22860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Gemini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Integração com o ambiente Google.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3969" y="1965960"/>
            <a:ext cx="2480310" cy="22860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Manus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Execução autônoma de tarefas.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7ED957"/>
                </a:solidFill>
                <a:latin typeface="Calibri"/>
              </a:rPr>
              <a:t>Antes de escolher: </a:t>
            </a:r>
            <a:r>
              <a:rPr sz="2200" b="0">
                <a:solidFill>
                  <a:srgbClr val="FFFFFF"/>
                </a:solidFill>
                <a:latin typeface="Calibri"/>
              </a:rPr>
              <a:t>preciso citar a fonte? Há dado pessoal? Vai se repetir? Quem confere depois?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De onde vem </a:t>
            </a:r>
            <a:r>
              <a:rPr sz="3600" b="1">
                <a:solidFill>
                  <a:srgbClr val="FFFFFF"/>
                </a:solidFill>
                <a:latin typeface="Calibri"/>
              </a:rPr>
              <a:t>a resposta?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Treinamento geral ou documentos que você escolheu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166360" cy="2743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CONVERSA COMUM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Treinamento geral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Responde com o que aprendeu. Útil para ideias; arriscado para normas e dados.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65960"/>
            <a:ext cx="5166360" cy="2743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FONTES CARREGADAS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Seus documentos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O Gemini Notebook (antigo NotebookLM) e os projetos respondem a partir das fontes e mostram o trecho.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92040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Lembram do notebook das normativas? </a:t>
            </a:r>
            <a:r>
              <a:rPr sz="2000" b="0">
                <a:solidFill>
                  <a:srgbClr val="FFFFFF"/>
                </a:solidFill>
                <a:latin typeface="Calibri"/>
              </a:rPr>
              <a:t>Fonte ruim gera resposta ruim, e mais documentos não significam resposta melhor.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Aberto, fechado, </a:t>
            </a:r>
            <a:r>
              <a:rPr sz="3600" b="1">
                <a:solidFill>
                  <a:srgbClr val="FFFFFF"/>
                </a:solidFill>
                <a:latin typeface="Calibri"/>
              </a:rPr>
              <a:t>nuvem ou local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Muda o que a escola pode contratar e proteger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3383279" cy="2743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NUVEM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Fechado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Você usa, não vê dentro. Preço e termos mudam.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65960"/>
            <a:ext cx="3383279" cy="2743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CUIDADO COM A PALAVRA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Aberto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Pesos, código, dados, governança: quase nenhum abre os quatro.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965960"/>
            <a:ext cx="3383279" cy="274320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PROCESSAMENTO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Local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Roda na máquina da escola. Confirme se nada sai dela.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07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D957"/>
                </a:solidFill>
                <a:latin typeface="Calibri"/>
              </a:rPr>
              <a:t>Sinal de dependência: </a:t>
            </a:r>
            <a:r>
              <a:rPr sz="2000" b="0">
                <a:solidFill>
                  <a:srgbClr val="FFFFFF"/>
                </a:solidFill>
                <a:latin typeface="Calibri"/>
              </a:rPr>
              <a:t>a ferramenta não deixa escolher o modelo nem exportar os dados.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394960"/>
            <a:ext cx="95097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9D6E0"/>
                </a:solidFill>
                <a:latin typeface="Calibri"/>
              </a:rPr>
              <a:t>Fonte: Código Não Binário.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O gestor como </a:t>
            </a:r>
            <a:r>
              <a:rPr sz="3600" b="1">
                <a:solidFill>
                  <a:srgbClr val="FFFFFF"/>
                </a:solidFill>
                <a:latin typeface="Calibri"/>
              </a:rPr>
              <a:t>curador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Cultura de dados começa antes da ferramenta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7ED957"/>
                </a:solidFill>
                <a:latin typeface="Calibri"/>
              </a:rPr>
              <a:t>●  </a:t>
            </a:r>
            <a:r>
              <a:rPr sz="2400" b="0">
                <a:solidFill>
                  <a:srgbClr val="FFFFFF"/>
                </a:solidFill>
                <a:latin typeface="Calibri"/>
              </a:rPr>
              <a:t>Finalidade explícita para cada uso</a:t>
            </a:r>
          </a:p>
          <a:p>
            <a:pPr algn="l">
              <a:spcAft>
                <a:spcPts val="600"/>
              </a:spcAft>
            </a:pPr>
            <a:r>
              <a:rPr sz="2400" b="0">
                <a:solidFill>
                  <a:srgbClr val="7ED957"/>
                </a:solidFill>
                <a:latin typeface="Calibri"/>
              </a:rPr>
              <a:t>●  </a:t>
            </a:r>
            <a:r>
              <a:rPr sz="2400" b="0">
                <a:solidFill>
                  <a:srgbClr val="FFFFFF"/>
                </a:solidFill>
                <a:latin typeface="Calibri"/>
              </a:rPr>
              <a:t>Só o mínimo de dados necessário</a:t>
            </a:r>
          </a:p>
          <a:p>
            <a:pPr algn="l">
              <a:spcAft>
                <a:spcPts val="600"/>
              </a:spcAft>
            </a:pPr>
            <a:r>
              <a:rPr sz="2400" b="0">
                <a:solidFill>
                  <a:srgbClr val="7ED957"/>
                </a:solidFill>
                <a:latin typeface="Calibri"/>
              </a:rPr>
              <a:t>●  </a:t>
            </a:r>
            <a:r>
              <a:rPr sz="2400" b="0">
                <a:solidFill>
                  <a:srgbClr val="FFFFFF"/>
                </a:solidFill>
                <a:latin typeface="Calibri"/>
              </a:rPr>
              <a:t>Prazo para guardar e para eliminar</a:t>
            </a:r>
          </a:p>
          <a:p>
            <a:pPr algn="l">
              <a:spcAft>
                <a:spcPts val="600"/>
              </a:spcAft>
            </a:pPr>
            <a:r>
              <a:rPr sz="2400" b="0">
                <a:solidFill>
                  <a:srgbClr val="7ED957"/>
                </a:solidFill>
                <a:latin typeface="Calibri"/>
              </a:rPr>
              <a:t>●  </a:t>
            </a:r>
            <a:r>
              <a:rPr sz="2400" b="0">
                <a:solidFill>
                  <a:srgbClr val="FFFFFF"/>
                </a:solidFill>
                <a:latin typeface="Calibri"/>
              </a:rPr>
              <a:t>Dado público, interno e pessoal separados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965960"/>
            <a:ext cx="4251960" cy="329184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9ABE2"/>
                </a:solidFill>
                <a:latin typeface="Calibri"/>
              </a:rPr>
              <a:t>LGPD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7ED957"/>
                </a:solidFill>
                <a:latin typeface="Calibri"/>
              </a:rPr>
              <a:t>Escola controladora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O fornecedor opera os dados; a responsabilidade e o contrato são da escola.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5806440"/>
            <a:ext cx="95097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9D6E0"/>
                </a:solidFill>
                <a:latin typeface="Calibri"/>
              </a:rPr>
              <a:t>Referencial do MEC (2026), seção 3.2.5; Lei nº 13.709/2018.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Diagnóstico </a:t>
            </a:r>
            <a:r>
              <a:rPr sz="3600" b="1">
                <a:solidFill>
                  <a:srgbClr val="FFFFFF"/>
                </a:solidFill>
                <a:latin typeface="Calibri"/>
              </a:rPr>
              <a:t>antes da ferramenta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Um ciclo simples para decidir com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2480310" cy="246888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7ED957"/>
                </a:solidFill>
                <a:latin typeface="Calibri"/>
              </a:rPr>
              <a:t>1. Problema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Qual processo está mal resolvido?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6150" y="2103120"/>
            <a:ext cx="2480310" cy="246888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7ED957"/>
                </a:solidFill>
                <a:latin typeface="Calibri"/>
              </a:rPr>
              <a:t>2. Alternativas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Há solução sem tecnologia?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59" y="2103120"/>
            <a:ext cx="2480310" cy="246888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7ED957"/>
                </a:solidFill>
                <a:latin typeface="Calibri"/>
              </a:rPr>
              <a:t>3. Evidência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O que mostra que funciona?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3969" y="2103120"/>
            <a:ext cx="2480310" cy="246888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7ED957"/>
                </a:solidFill>
                <a:latin typeface="Calibri"/>
              </a:rPr>
              <a:t>4. Piloto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Com prazo e quem confere.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806440"/>
            <a:ext cx="95097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9D6E0"/>
                </a:solidFill>
                <a:latin typeface="Calibri"/>
              </a:rPr>
              <a:t>Referencial do MEC (2026), seções 9.1 e 9.2.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Acerto não é </a:t>
            </a:r>
            <a:r>
              <a:rPr sz="3600" b="1">
                <a:solidFill>
                  <a:srgbClr val="FFFFFF"/>
                </a:solidFill>
                <a:latin typeface="Calibri"/>
              </a:rPr>
              <a:t>aprendizagem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Um caso para discutir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777240" y="1828800"/>
            <a:ext cx="5300000" cy="3900000"/>
          </a:xfrm>
          <a:prstGeom prst="rect">
            <a:avLst/>
          </a:prstGeom>
          <a:noFill/>
        </p:spPr>
        <p:txBody>
          <a:bodyPr wrap="square" anchor="t" lIns="45720" rIns="45720">
            <a:norm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pt-BR" sz="2000" b="1">
                <a:solidFill>
                  <a:srgbClr val="7ED957"/>
                </a:solidFill>
                <a:latin typeface="Calibri"/>
              </a:rPr>
              <a:t>O que aconteceu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lang="pt-BR" sz="1700" b="0">
                <a:solidFill>
                  <a:srgbClr val="FFFFFF"/>
                </a:solidFill>
                <a:latin typeface="Calibri"/>
              </a:rPr>
              <a:t>Em maio de 2023, três escolas públicas de Newark (EUA) começaram a testar o Khanmigo, tutor de IA da Khan Academy, gratuito durante o piloto.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lang="pt-BR" sz="1700" b="0">
                <a:solidFill>
                  <a:srgbClr val="FFFFFF"/>
                </a:solidFill>
                <a:latin typeface="Calibri"/>
              </a:rPr>
              <a:t>Numa turma de 3º ano, a professora propôs: “Qual é a fração de consoantes na palavra </a:t>
            </a:r>
            <a:r>
              <a:rPr lang="pt-BR" sz="1700" b="1">
                <a:solidFill>
                  <a:srgbClr val="FFFFFF"/>
                </a:solidFill>
                <a:latin typeface="Calibri"/>
              </a:rPr>
              <a:t>matemático</a:t>
            </a:r>
            <a:r>
              <a:rPr lang="pt-BR" sz="1700" b="0">
                <a:solidFill>
                  <a:srgbClr val="FFFFFF"/>
                </a:solidFill>
                <a:latin typeface="Calibri"/>
              </a:rPr>
              <a:t>?”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lang="pt-BR" sz="1700" b="0">
                <a:solidFill>
                  <a:srgbClr val="FFFFFF"/>
                </a:solidFill>
                <a:latin typeface="Calibri"/>
              </a:rPr>
              <a:t>O tutor deu a resposta pronta (5/10) em vez de guiar o raciocínio dos alunos.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lang="pt-BR" sz="1700" b="0">
                <a:solidFill>
                  <a:srgbClr val="C9D6E0"/>
                </a:solidFill>
                <a:latin typeface="Calibri"/>
              </a:rPr>
              <a:t>No modo professor, a mesma pergunta recebeu uma resposta errada: 6/10.</a:t>
            </a:r>
          </a:p>
        </p:txBody>
      </p:sp>
      <p:pic>
        <p:nvPicPr>
          <p:cNvPr id="8" name="Capa da matéria do R7" descr="Capa da matéria do R7 de 09/07/2023: Escola nos EUA causa polêmica ao virar cobaia e adotar inteligência artificial que dispensa professor">
            <a:hlinkClick r:id="rIdR7"/>
          </p:cNvPr>
          <p:cNvPicPr>
            <a:picLocks noChangeAspect="1"/>
          </p:cNvPicPr>
          <p:nvPr/>
        </p:nvPicPr>
        <p:blipFill>
          <a:blip r:embed="rIdR7img"/>
          <a:stretch>
            <a:fillRect/>
          </a:stretch>
        </p:blipFill>
        <p:spPr>
          <a:xfrm>
            <a:off x="6309360" y="1828800"/>
            <a:ext cx="5029200" cy="2937849"/>
          </a:xfrm>
          <a:prstGeom prst="rect">
            <a:avLst/>
          </a:prstGeom>
          <a:ln w="12700">
            <a:solidFill>
              <a:srgbClr val="29ABE2"/>
            </a:solidFill>
          </a:ln>
        </p:spPr>
      </p:pic>
      <p:sp>
        <p:nvSpPr>
          <p:cNvPr id="9" name="TextBox 9"/>
          <p:cNvSpPr txBox="1"/>
          <p:nvPr/>
        </p:nvSpPr>
        <p:spPr>
          <a:xfrm>
            <a:off x="6309360" y="4858089"/>
            <a:ext cx="5029200" cy="760000"/>
          </a:xfrm>
          <a:prstGeom prst="rect">
            <a:avLst/>
          </a:prstGeom>
          <a:noFill/>
        </p:spPr>
        <p:txBody>
          <a:bodyPr wrap="square" anchor="t" lIns="45720" rIns="45720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1400" b="0">
                <a:solidFill>
                  <a:srgbClr val="C9D6E0"/>
                </a:solidFill>
                <a:latin typeface="Calibri"/>
              </a:rPr>
              <a:t>Leia a matéria completa: </a:t>
            </a:r>
            <a:r>
              <a:rPr lang="pt-BR" sz="1400" b="1">
                <a:solidFill>
                  <a:srgbClr val="29ABE2"/>
                </a:solidFill>
                <a:latin typeface="Calibri"/>
                <a:hlinkClick r:id="rIdR7"/>
              </a:rPr>
              <a:t>R7, 09/07/2023</a:t>
            </a:r>
          </a:p>
          <a:p>
            <a:pPr algn="l">
              <a:spcAft>
                <a:spcPts val="800"/>
              </a:spcAft>
              <a:buNone/>
            </a:pPr>
            <a:r>
              <a:rPr lang="pt-BR" sz="1400" b="0">
                <a:solidFill>
                  <a:srgbClr val="C9D6E0"/>
                </a:solidFill>
                <a:latin typeface="Calibri"/>
              </a:rPr>
              <a:t>Tradução de reportagem do The New York Times (jun. 2023).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1737360"/>
            <a:ext cx="96012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 IA não decide. Ela prepara a decisão.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88720" y="3154680"/>
            <a:ext cx="32918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443984" y="3113532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383280"/>
            <a:ext cx="96012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7ED957"/>
                </a:solidFill>
                <a:latin typeface="Calibri"/>
              </a:rPr>
              <a:t>Supervisão humana significativa é princípio inegociável. Onde ela será obrigatória na sua escola?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800600"/>
            <a:ext cx="73152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A seguir: ética, inclusão e matriz de riscos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O percurso </a:t>
            </a:r>
            <a:r>
              <a:rPr sz="3600" b="1">
                <a:solidFill>
                  <a:srgbClr val="FFFFFF"/>
                </a:solidFill>
                <a:latin typeface="Calibri"/>
              </a:rPr>
              <a:t>do 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Da compreensão à decisão institucional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2480310" cy="246888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7ED957"/>
                </a:solidFill>
                <a:latin typeface="Calibri"/>
              </a:rPr>
              <a:t>1. Compreender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Fundamentos, ética, inclusão e matriz de riscos.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6150" y="2103120"/>
            <a:ext cx="2480310" cy="246888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7ED957"/>
                </a:solidFill>
                <a:latin typeface="Calibri"/>
              </a:rPr>
              <a:t>2. Organizar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Documento da escola: identidade, tom de voz e normas.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59" y="2103120"/>
            <a:ext cx="2480310" cy="246888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7ED957"/>
                </a:solidFill>
                <a:latin typeface="Calibri"/>
              </a:rPr>
              <a:t>3. Testar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Práticas 1, 2 e 3: prompts, assistentes e revisores.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3969" y="2103120"/>
            <a:ext cx="2480310" cy="2468880"/>
          </a:xfrm>
          <a:prstGeom prst="roundRect">
            <a:avLst>
              <a:gd name="adj" fmla="val 6000"/>
            </a:avLst>
          </a:prstGeom>
          <a:solidFill>
            <a:srgbClr val="0B2236"/>
          </a:solidFill>
          <a:ln w="15875">
            <a:solidFill>
              <a:srgbClr val="1B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7ED957"/>
                </a:solidFill>
                <a:latin typeface="Calibri"/>
              </a:rPr>
              <a:t>4. Decidir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Laboratório, governança e plano de 30 dias.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806440"/>
            <a:ext cx="95097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9D6E0"/>
                </a:solidFill>
                <a:latin typeface="Calibri"/>
              </a:rPr>
              <a:t>Em cada prática: escolha um roteiro e faça a sequência completa.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11480"/>
            <a:ext cx="96926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7ED957"/>
                </a:solidFill>
                <a:latin typeface="Calibri"/>
              </a:rPr>
              <a:t>Acerto não é </a:t>
            </a:r>
            <a:r>
              <a:rPr sz="3600" b="1">
                <a:solidFill>
                  <a:srgbClr val="FFFFFF"/>
                </a:solidFill>
                <a:latin typeface="Calibri"/>
              </a:rPr>
              <a:t>aprendizagem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9875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7ED957"/>
                </a:solidFill>
                <a:latin typeface="Calibri"/>
              </a:rPr>
              <a:t>Newark: qual foi o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4206240" cy="25603"/>
          </a:xfrm>
          <a:prstGeom prst="rect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46903" y="1531620"/>
            <a:ext cx="128016" cy="128016"/>
          </a:xfrm>
          <a:prstGeom prst="ellipse">
            <a:avLst/>
          </a:prstGeom>
          <a:solidFill>
            <a:srgbClr val="7ED9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777240" y="1828800"/>
            <a:ext cx="5400000" cy="4000000"/>
          </a:xfrm>
          <a:prstGeom prst="rect">
            <a:avLst/>
          </a:prstGeom>
          <a:noFill/>
        </p:spPr>
        <p:txBody>
          <a:bodyPr wrap="square" anchor="t" lIns="45720" rIns="45720">
            <a:normAutofit/>
          </a:bodyPr>
          <a:lstStyle/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lang="pt-BR" sz="1600" b="1">
                <a:solidFill>
                  <a:srgbClr val="FFFFFF"/>
                </a:solidFill>
                <a:latin typeface="Calibri"/>
              </a:rPr>
              <a:t>O erro não foi o principal. </a:t>
            </a:r>
            <a:r>
              <a:rPr lang="pt-BR" sz="1600" b="0">
                <a:solidFill>
                  <a:srgbClr val="FFFFFF"/>
                </a:solidFill>
                <a:latin typeface="Calibri"/>
              </a:rPr>
              <a:t>O tutor fez o raciocínio pelo estudante: a resposta estava certa, mas o aluno não aprendeu a chegar nela.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lang="pt-BR" sz="1600" b="0">
                <a:solidFill>
                  <a:srgbClr val="FFFFFF"/>
                </a:solidFill>
                <a:latin typeface="Calibri"/>
              </a:rPr>
              <a:t>O distrito disse que sua maior preocupação era o raciocínio ficar a cargo da ferramenta, e não dos alunos.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lang="pt-BR" sz="1600" b="0">
                <a:solidFill>
                  <a:srgbClr val="FFFFFF"/>
                </a:solidFill>
                <a:latin typeface="Calibri"/>
              </a:rPr>
              <a:t>A Khan Academy reconheceu que o tutor “ajudou demais, depressa demais” e o ajustou. Dias depois, um repórter refez a pergunta e o tutor ainda dava a resposta pronta.</a:t>
            </a:r>
          </a:p>
          <a:p>
            <a:pPr algn="l" marL="285750" indent="-285750">
              <a:spcAft>
                <a:spcPts val="800"/>
              </a:spcAft>
              <a:buFont typeface="Arial"/>
              <a:buChar char="•"/>
            </a:pPr>
            <a:r>
              <a:rPr lang="pt-BR" sz="1600" b="0">
                <a:solidFill>
                  <a:srgbClr val="C9D6E0"/>
                </a:solidFill>
                <a:latin typeface="Calibri"/>
              </a:rPr>
              <a:t>Na turma de 6º ano da mesma escola, o professor usou o tutor como apoio e ganhou tempo para os alunos com mais dificuldade. Mesma ferramenta, outro resultado.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828800"/>
            <a:ext cx="4937760" cy="32004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29ABE2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solidFill>
                  <a:srgbClr val="C9D6E0"/>
                </a:solidFill>
                <a:latin typeface="Calibri"/>
              </a:rPr>
              <a:t>Para discutir: o que a escola mede quando diz que uma ferramenta de IA “funciona”? Quem confere se o estudante aprendeu? Que regra de uso evitaria esse problema?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920240" y="5760720"/>
            <a:ext cx="9509760" cy="640080"/>
          </a:xfrm>
          <a:prstGeom prst="rect">
            <a:avLst/>
          </a:prstGeom>
          <a:noFill/>
        </p:spPr>
        <p:txBody>
          <a:bodyPr wrap="square" anchor="t" lIns="45720" rIns="45720">
            <a:norm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pt-BR" sz="1300" b="0">
                <a:solidFill>
                  <a:srgbClr val="C9D6E0"/>
                </a:solidFill>
                <a:latin typeface="Calibri"/>
              </a:rPr>
              <a:t>Outro teste (CNN, ago. 2023): o mesmo tutor rejeitou uma divisão correta e elogiou uma multiplicação errada. Fonte do caso: The New York Times, jun. 2023 (tradução do R7, 09/07/2023).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9ABE2"/>
      </a:hlink>
      <a:folHlink>
        <a:srgbClr val="7ED95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3783</Words>
  <Application>Microsoft Macintosh PowerPoint</Application>
  <PresentationFormat>Widescreen</PresentationFormat>
  <Paragraphs>347</Paragraphs>
  <Slides>30</Slides>
  <Notes>27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Mary Andrioli</cp:lastModifiedBy>
  <cp:revision>7</cp:revision>
  <dcterms:created xsi:type="dcterms:W3CDTF">2013-01-27T09:14:16Z</dcterms:created>
  <dcterms:modified xsi:type="dcterms:W3CDTF">2026-08-18T23:21:28Z</dcterms:modified>
  <cp:category/>
</cp:coreProperties>
</file>