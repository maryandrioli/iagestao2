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77" r:id="rIdPerc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G24"/>
    <p:sldId id="270" r:id="rId21"/>
    <p:sldId id="280" r:id="rIdG25"/>
    <p:sldId id="281" r:id="rIdG26"/>
    <p:sldId id="282" r:id="rIdG27"/>
    <p:sldId id="271" r:id="rId22"/>
    <p:sldId id="272" r:id="rId23"/>
    <p:sldId id="273" r:id="rId24"/>
    <p:sldId id="274" r:id="rId25"/>
    <p:sldId id="275" r:id="rId26"/>
    <p:sldId id="278" r:id="rIdNewark2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Perc" Type="http://schemas.openxmlformats.org/officeDocument/2006/relationships/slide" Target="slides/slide22.xml"/><Relationship Id="rIdNewark2" Type="http://schemas.openxmlformats.org/officeDocument/2006/relationships/slide" Target="slides/slide23.xml"/><Relationship Id="rIdG24" Type="http://schemas.openxmlformats.org/officeDocument/2006/relationships/slide" Target="slides/slide24.xml"/><Relationship Id="rIdG25" Type="http://schemas.openxmlformats.org/officeDocument/2006/relationships/slide" Target="slides/slide25.xml"/><Relationship Id="rIdG26" Type="http://schemas.openxmlformats.org/officeDocument/2006/relationships/slide" Target="slides/slide26.xml"/><Relationship Id="rIdG27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R7img" Type="http://schemas.openxmlformats.org/officeDocument/2006/relationships/image" Target="../media/image_r7_newark.png"/><Relationship Id="rIdR7" Type="http://schemas.openxmlformats.org/officeDocument/2006/relationships/hyperlink" Target="https://noticias.r7.com/educacao/escola-nos-eua-causa-polemica-ao-virar-cobaia-e-adotar-inteligencia-artificial-que-dispensa-professor-09072023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R7" Type="http://schemas.openxmlformats.org/officeDocument/2006/relationships/hyperlink" Target="https://noticias.r7.com/educacao/escola-nos-eua-causa-polemica-ao-virar-cobaia-e-adotar-inteligencia-artificial-que-dispensa-professor-09072023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Relationship Id="rIdInfo" Type="http://schemas.openxmlformats.org/officeDocument/2006/relationships/image" Target="../media/info_tela_da_ia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Guia" Type="http://schemas.openxmlformats.org/officeDocument/2006/relationships/hyperlink" Target="guia_introducao_tela_da_ia.pdf" TargetMode="External"/><Relationship Id="rIdInfo" Type="http://schemas.openxmlformats.org/officeDocument/2006/relationships/image" Target="../media/info_extensoes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Humus Educação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686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7ED957"/>
                </a:solidFill>
                <a:latin typeface="Calibri"/>
              </a:rPr>
              <a:t>IA para gestores escolares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154680"/>
            <a:ext cx="384048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8114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A inteligência artificial na prática da liderança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6E0"/>
                </a:solidFill>
                <a:latin typeface="Calibri"/>
              </a:rPr>
              <a:t>Profa. Dra. Mary Grace Pereira Andrioli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828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9ABE2"/>
                </a:solidFill>
                <a:latin typeface="Calibri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8686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Fundamentos, panorama e cultura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70332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43984" y="366217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8620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Vocabulário para decidir, e não apenas para operar.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Primeiro, compreender. Depois, testar. Por fim, decidir como implementar.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formas de IA </a:t>
            </a:r>
            <a:r>
              <a:rPr sz="3600" b="1">
                <a:solidFill>
                  <a:srgbClr val="FFFFFF"/>
                </a:solidFill>
                <a:latin typeface="Calibri"/>
              </a:rPr>
              <a:t>convivem na escola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Cada uma responde a um tipo de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PREVER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preditiva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"O que vai acontecer?" Classifica, prevê e recomenda.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PRODUZIR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"Produza para mim." Cria texto, imagem e áudio.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EXECUTAR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agêntica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"Resolva este processo." Planeja e executa etapas.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Pergunta: </a:t>
            </a:r>
            <a:r>
              <a:rPr sz="2000" b="0">
                <a:solidFill>
                  <a:srgbClr val="FFFFFF"/>
                </a:solidFill>
                <a:latin typeface="Calibri"/>
              </a:rPr>
              <a:t>o que os sistemas já contratados pela escola decidem sozinhos?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preditiva: </a:t>
            </a:r>
            <a:r>
              <a:rPr sz="3600" b="1">
                <a:solidFill>
                  <a:srgbClr val="FFFFFF"/>
                </a:solidFill>
                <a:latin typeface="Calibri"/>
              </a:rPr>
              <a:t>prever a partir do passado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não cria conteúdo: encontra padrões em dados já existentes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PREVER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Aprende padrões em dados históricos e devolve uma classificação, uma previsão ou uma recomendação.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Alerta de risco de evasão (frequência e notas)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Trilhas sugeridas por plataformas adaptativas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Correção de itens objetivos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Previsão de rematrículas e de formação de turmas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dado enviesado gera rótulo injusto; decisão sobre estudante exige revisão humana.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generativa: </a:t>
            </a:r>
            <a:r>
              <a:rPr sz="3600" b="1">
                <a:solidFill>
                  <a:srgbClr val="FFFFFF"/>
                </a:solidFill>
                <a:latin typeface="Calibri"/>
              </a:rPr>
              <a:t>produzir a partir de um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cria algo novo, escolhendo o que é mais provável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PRODUZIR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Recebe uma instrução e produz texto, imagem, áudio ou código novos, palavra por palavra.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Comunicado em versões para famílias, equipe e redes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Ata a partir da transcrição da reunião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Rubricas e variações de uma atividade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Resumo de documentos longos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inventa com segurança e tende ao tom genérico. Quem assina, revisa.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Quatro noções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explicam acertos 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Não é preciso entender de tecnologia, mas saber o que esperar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Predição provável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Compõe a resposta mais provável, não a verdadeira.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Alucinação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fluência que convence também inventa leis e autores.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Janela de contexto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Conversa longa esgota o que a IA "enxerga".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Corte de conhecimento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Pode não conhecer a norma ou o calendário recentes.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limites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pesam para quem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 que o Referencial do MEC (2026) destaca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Não compreende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Não formula intenções nem exerce juízo.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Confirma premissas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Tende a concordar com quem pergunta, mesmo com premissas frágeis.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É caixa-preta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Não se acompanha o caminho interno de uma resposta.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Referencial para Desenvolvimento e Uso Responsáveis de IA na Educação, MEC,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agêntica: </a:t>
            </a:r>
            <a:r>
              <a:rPr sz="3600" b="1">
                <a:solidFill>
                  <a:srgbClr val="FFFFFF"/>
                </a:solidFill>
                <a:latin typeface="Calibri"/>
              </a:rPr>
              <a:t>delegar um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não só responde: age, usando ferramentas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EXECUTAR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Recebe um objetivo, planeja as etapas, usa ferramentas (arquivos, e-mail, agenda, navegador) e executa até entregar.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Conferir um lote de planos e preparar devolutivas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Organizar a comunicação da semana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Triar a caixa de entrada da secretaria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Montar relatórios a partir de planilhas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quanto mais autonomia, mais claro deve estar onde uma pessoa aprova.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Assistente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ou agente?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A diferença está em quem conduz as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ASSISTENTE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Você conduz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pede, ele responde, uma etapa por vez. Ex.: projeto que redige comunicados no tom da escola.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Ele conduz, você aprova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dá o objetivo; ele planeja, usa ferramentas, executa e para nos pontos combinados.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O modelo é o cérebro; o agente é o corpo: </a:t>
            </a:r>
            <a:r>
              <a:rPr sz="2000" b="0">
                <a:solidFill>
                  <a:srgbClr val="FFFFFF"/>
                </a:solidFill>
                <a:latin typeface="Calibri"/>
              </a:rPr>
              <a:t>instruções, ferramentas e memória em torno do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que é um agente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no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Quatro peças que trabalham juntas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Modelo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Claude, que lê, raciocina e escreve.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Instruções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Projeto ou skill com papel, regras e critérios da escola.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Ferramentas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Drive, Gmail, Agenda, pastas do computador, extensão do Chrome.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Ciclo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Planeja, executa, confere e pede aprovação.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Na prática: </a:t>
            </a:r>
            <a:r>
              <a:rPr sz="2000" b="0">
                <a:solidFill>
                  <a:srgbClr val="FFFFFF"/>
                </a:solidFill>
                <a:latin typeface="Calibri"/>
              </a:rPr>
              <a:t>você descreve o objetivo, ele mostra o plano, você aprova, ele executa e relata o que fez.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Um agente, um processo: </a:t>
            </a:r>
            <a:r>
              <a:rPr sz="3600" b="1">
                <a:solidFill>
                  <a:srgbClr val="FFFFFF"/>
                </a:solidFill>
                <a:latin typeface="Calibri"/>
              </a:rPr>
              <a:t>conferência de planos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12 planos de aula entregues na sexta-feira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Lê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Abre os 12 planos na pasta do Drive.</a:t>
            </a:r>
          </a:p>
        </p:txBody>
      </p:sp>
      <p:sp>
        <p:nvSpPr>
          <p:cNvPr id="8" name="Chevron 7"/>
          <p:cNvSpPr/>
          <p:nvPr/>
        </p:nvSpPr>
        <p:spPr>
          <a:xfrm>
            <a:off x="269930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448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Confere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Aplica o checklist da escola a cada plano.</a:t>
            </a:r>
          </a:p>
        </p:txBody>
      </p:sp>
      <p:sp>
        <p:nvSpPr>
          <p:cNvPr id="10" name="Chevron 9"/>
          <p:cNvSpPr/>
          <p:nvPr/>
        </p:nvSpPr>
        <p:spPr>
          <a:xfrm>
            <a:off x="488655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5172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Sintetiza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Tabela com as lacunas mais frequentes.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379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97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Redige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Rascunho de devolutiva por professor.</a:t>
            </a:r>
          </a:p>
        </p:txBody>
      </p:sp>
      <p:sp>
        <p:nvSpPr>
          <p:cNvPr id="14" name="Chevron 13"/>
          <p:cNvSpPr/>
          <p:nvPr/>
        </p:nvSpPr>
        <p:spPr>
          <a:xfrm>
            <a:off x="926104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621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Coordenação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Revisa, ajusta e envia.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Ferramentas: </a:t>
            </a:r>
            <a:r>
              <a:rPr sz="2000" b="0">
                <a:solidFill>
                  <a:srgbClr val="FFFFFF"/>
                </a:solidFill>
                <a:latin typeface="Calibri"/>
              </a:rPr>
              <a:t>Drive para ler, checklist nas instruções, Gmail apenas para rascunhos.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Vários agentes: </a:t>
            </a:r>
            <a:r>
              <a:rPr sz="3600" b="1">
                <a:solidFill>
                  <a:srgbClr val="FFFFFF"/>
                </a:solidFill>
                <a:latin typeface="Calibri"/>
              </a:rPr>
              <a:t>comunicação da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cada agente faz uma parte e passa adiante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AGENDA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Levanta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Lista os eventos da semana no calendário.</a:t>
            </a:r>
          </a:p>
        </p:txBody>
      </p:sp>
      <p:sp>
        <p:nvSpPr>
          <p:cNvPr id="8" name="Chevron 7"/>
          <p:cNvSpPr/>
          <p:nvPr/>
        </p:nvSpPr>
        <p:spPr>
          <a:xfrm>
            <a:off x="269930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448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REDATOR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Escreve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Comunicado no tom de voz da escola.</a:t>
            </a:r>
          </a:p>
        </p:txBody>
      </p:sp>
      <p:sp>
        <p:nvSpPr>
          <p:cNvPr id="10" name="Chevron 9"/>
          <p:cNvSpPr/>
          <p:nvPr/>
        </p:nvSpPr>
        <p:spPr>
          <a:xfrm>
            <a:off x="488655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5172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ADAPTADOR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Adapta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Versões para famílias, equipe e redes.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379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97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Direção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Aprova o texto final.</a:t>
            </a:r>
          </a:p>
        </p:txBody>
      </p:sp>
      <p:sp>
        <p:nvSpPr>
          <p:cNvPr id="14" name="Chevron 13"/>
          <p:cNvSpPr/>
          <p:nvPr/>
        </p:nvSpPr>
        <p:spPr>
          <a:xfrm>
            <a:off x="926104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621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PUBLICADOR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Prepara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Deixa e-mails em rascunho e posts agendados.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Regra: </a:t>
            </a:r>
            <a:r>
              <a:rPr sz="2000" b="0">
                <a:solidFill>
                  <a:srgbClr val="FFFFFF"/>
                </a:solidFill>
                <a:latin typeface="Calibri"/>
              </a:rPr>
              <a:t>cada agente tem uma tarefa e um limite. Nenhum envia sem aprovação.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Quando há dado pessoal: </a:t>
            </a:r>
            <a:r>
              <a:rPr sz="3600" b="1">
                <a:solidFill>
                  <a:srgbClr val="FFFFFF"/>
                </a:solidFill>
                <a:latin typeface="Calibri"/>
              </a:rPr>
              <a:t>triagem da secretaria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e-mails de famílias na segunda-feira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TRIAGEM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Classifica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Separa os e-mails por assunto.</a:t>
            </a:r>
          </a:p>
        </p:txBody>
      </p:sp>
      <p:sp>
        <p:nvSpPr>
          <p:cNvPr id="8" name="Chevron 7"/>
          <p:cNvSpPr/>
          <p:nvPr/>
        </p:nvSpPr>
        <p:spPr>
          <a:xfrm>
            <a:off x="269930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448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RESPOSTAS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Rascunha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Respostas para dúvidas frequentes.</a:t>
            </a:r>
          </a:p>
        </p:txBody>
      </p:sp>
      <p:sp>
        <p:nvSpPr>
          <p:cNvPr id="10" name="Chevron 9"/>
          <p:cNvSpPr/>
          <p:nvPr/>
        </p:nvSpPr>
        <p:spPr>
          <a:xfrm>
            <a:off x="488655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5172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AGENDA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Propõe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Horários para reuniões pedidas.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379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97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Secretaria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Confere e envia as respostas.</a:t>
            </a:r>
          </a:p>
        </p:txBody>
      </p:sp>
      <p:sp>
        <p:nvSpPr>
          <p:cNvPr id="14" name="Chevron 13"/>
          <p:cNvSpPr/>
          <p:nvPr/>
        </p:nvSpPr>
        <p:spPr>
          <a:xfrm>
            <a:off x="926104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621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Casos sensíveis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Saúde, conflito e financeiro vão direto à equipe.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Antes de usar: </a:t>
            </a:r>
            <a:r>
              <a:rPr sz="2000" b="0">
                <a:solidFill>
                  <a:srgbClr val="FFFFFF"/>
                </a:solidFill>
                <a:latin typeface="Calibri"/>
              </a:rPr>
              <a:t>conta corporativa, política de uso e regra sobre dados pessoais.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 receita de um agente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em seis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Vale para qualquer ferramenta e é a base dos prompts de todos os roteiros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1264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Papel: </a:t>
            </a:r>
            <a:r>
              <a:rPr sz="2400" b="0">
                <a:solidFill>
                  <a:srgbClr val="FFFFFF"/>
                </a:solidFill>
                <a:latin typeface="Calibri"/>
              </a:rPr>
              <a:t>quem a IA é neste trabalho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Fontes: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pode e o que não pode usar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Tarefa: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exatamente deve fazer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Critérios: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é qualidade aqui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Formato: </a:t>
            </a:r>
            <a:r>
              <a:rPr sz="2400" b="0">
                <a:solidFill>
                  <a:srgbClr val="FFFFFF"/>
                </a:solidFill>
                <a:latin typeface="Calibri"/>
              </a:rPr>
              <a:t>em que formato entregar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20240"/>
            <a:ext cx="4251960" cy="33832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O SEXTO CAMPO: LIMITES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Onde a máquina para e uma pessoa assume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É o campo que quase ninguém escreve, e o que transforma uso improvisado em processo.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Não existe a melhor IA. </a:t>
            </a:r>
            <a:r>
              <a:rPr sz="3600" b="1">
                <a:solidFill>
                  <a:srgbClr val="FFFFFF"/>
                </a:solidFill>
                <a:latin typeface="Calibri"/>
              </a:rPr>
              <a:t>Existe a mais adequada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Pergunte sempre: qual ferramenta e qual modelo?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Claude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Documentos longos, projetos, artefatos e agentes.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ChatGPT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Uso geral e porta de entrada.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Gemini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Integração com o ambiente Google.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Manus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Execução autônoma de tarefas.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Antes de escolher: </a:t>
            </a:r>
            <a:r>
              <a:rPr sz="2200" b="0">
                <a:solidFill>
                  <a:srgbClr val="FFFFFF"/>
                </a:solidFill>
                <a:latin typeface="Calibri"/>
              </a:rPr>
              <a:t>preciso citar a fonte? Há dado pessoal? Vai se repetir? Quem confere depois?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De onde vem </a:t>
            </a:r>
            <a:r>
              <a:rPr sz="3600" b="1">
                <a:solidFill>
                  <a:srgbClr val="FFFFFF"/>
                </a:solidFill>
                <a:latin typeface="Calibri"/>
              </a:rPr>
              <a:t>a resposta?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Treinamento geral ou documentos que você escolheu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CONVERSA COMUM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Treinamento geral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Responde com o que aprendeu. Útil para ideias; arriscado para normas 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FONTES CARREGADAS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Seus documentos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Gemini Notebook (antigo NotebookLM) e os projetos respondem a partir das fontes e mostram o trecho.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Lembram do notebook das normativas? </a:t>
            </a:r>
            <a:r>
              <a:rPr sz="2000" b="0">
                <a:solidFill>
                  <a:srgbClr val="FFFFFF"/>
                </a:solidFill>
                <a:latin typeface="Calibri"/>
              </a:rPr>
              <a:t>Fonte ruim gera resposta ruim, e mais documentos não significam resposta melhor.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Aberto, fechado, </a:t>
            </a:r>
            <a:r>
              <a:rPr sz="3600" b="1">
                <a:solidFill>
                  <a:srgbClr val="FFFFFF"/>
                </a:solidFill>
                <a:latin typeface="Calibri"/>
              </a:rPr>
              <a:t>nuvem ou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Muda o que a escola pode contratar e proteger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NUVEM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Fechado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usa, não vê dentro. Preço e termos mudam.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CUIDADO COM A PALAVRA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Aberto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Pesos, código, dados, governança: quase nenhum abre os quatro.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PROCESSAMENTO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Local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Roda na máquina da escola. Confirme se nada sai dela.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Sinal de dependência: </a:t>
            </a:r>
            <a:r>
              <a:rPr sz="2000" b="0">
                <a:solidFill>
                  <a:srgbClr val="FFFFFF"/>
                </a:solidFill>
                <a:latin typeface="Calibri"/>
              </a:rPr>
              <a:t>a ferramenta não deixa escolher o modelo nem exportar os dados.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39496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Fonte: Código Não Binário.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gestor como </a:t>
            </a:r>
            <a:r>
              <a:rPr sz="3600" b="1">
                <a:solidFill>
                  <a:srgbClr val="FFFFFF"/>
                </a:solidFill>
                <a:latin typeface="Calibri"/>
              </a:rPr>
              <a:t>curador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Cultura de dados começa antes da ferramenta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03504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Finalidade explícita para cada uso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Só o mínimo de dados necessário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Prazo para guardar e para eliminar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Dado público, interno e pessoal separados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65960"/>
            <a:ext cx="4251960" cy="32918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LGPD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Escola controladora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fornecedor opera os dados; a responsabilidade e o contrato são da escola.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Referencial do MEC (2026), seção 3.2.5; Lei nº 13.709/2018.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Diagnóstico </a:t>
            </a:r>
            <a:r>
              <a:rPr sz="3600" b="1">
                <a:solidFill>
                  <a:srgbClr val="FFFFFF"/>
                </a:solidFill>
                <a:latin typeface="Calibri"/>
              </a:rPr>
              <a:t>antes da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ciclo simples para decidir com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1. Problema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Qual processo está mal resolvido?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2. Alternativas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Há solução sem tecnologia?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3. Evidência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que mostra que funciona?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4. Piloto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 prazo e quem confere.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Referencial do MEC (2026), seções 9.1 e 9.2.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Acerto não é </a:t>
            </a:r>
            <a:r>
              <a:rPr sz="3600" b="1">
                <a:solidFill>
                  <a:srgbClr val="FFFFFF"/>
                </a:solidFill>
                <a:latin typeface="Calibri"/>
              </a:rPr>
              <a:t>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caso para discutir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777240" y="1828800"/>
            <a:ext cx="5300000" cy="39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2000" b="1">
                <a:solidFill>
                  <a:srgbClr val="7ED957"/>
                </a:solidFill>
                <a:latin typeface="Calibri"/>
              </a:rPr>
              <a:t>O que aconteceu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FFFFFF"/>
                </a:solidFill>
                <a:latin typeface="Calibri"/>
              </a:rPr>
              <a:t>Em maio de 2023, três escolas públicas de Newark (EUA) começaram a testar o Khanmigo, tutor de IA da Khan Academy, gratuito durante o piloto.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FFFFFF"/>
                </a:solidFill>
                <a:latin typeface="Calibri"/>
              </a:rPr>
              <a:t>Numa turma de 3º ano, a professora propôs: “Qual é a fração de consoantes na palavra </a:t>
            </a:r>
            <a:r>
              <a:rPr lang="pt-BR" sz="1700" b="1">
                <a:solidFill>
                  <a:srgbClr val="FFFFFF"/>
                </a:solidFill>
                <a:latin typeface="Calibri"/>
              </a:rPr>
              <a:t>matemático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?”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FFFFFF"/>
                </a:solidFill>
                <a:latin typeface="Calibri"/>
              </a:rPr>
              <a:t>O tutor deu a resposta pronta (5/10) em vez de guiar o raciocínio dos alunos.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700" b="0">
                <a:solidFill>
                  <a:srgbClr val="C9D6E0"/>
                </a:solidFill>
                <a:latin typeface="Calibri"/>
              </a:rPr>
              <a:t>No modo professor, a mesma pergunta recebeu uma resposta errada: 6/10.</a:t>
            </a:r>
          </a:p>
        </p:txBody>
      </p:sp>
      <p:pic>
        <p:nvPicPr>
          <p:cNvPr id="8" name="Capa da matéria do R7" descr="Capa da matéria do R7 de 09/07/2023: Escola nos EUA causa polêmica ao virar cobaia e adotar inteligência artificial que dispensa professor">
            <a:hlinkClick r:id="rIdR7"/>
          </p:cNvPr>
          <p:cNvPicPr>
            <a:picLocks noChangeAspect="1"/>
          </p:cNvPicPr>
          <p:nvPr/>
        </p:nvPicPr>
        <p:blipFill>
          <a:blip r:embed="rIdR7img"/>
          <a:stretch>
            <a:fillRect/>
          </a:stretch>
        </p:blipFill>
        <p:spPr>
          <a:xfrm>
            <a:off x="6309360" y="1828800"/>
            <a:ext cx="5029200" cy="2937849"/>
          </a:xfrm>
          <a:prstGeom prst="rect">
            <a:avLst/>
          </a:prstGeom>
          <a:ln w="12700">
            <a:solidFill>
              <a:srgbClr val="29ABE2"/>
            </a:solidFill>
          </a:ln>
        </p:spPr>
      </p:pic>
      <p:sp>
        <p:nvSpPr>
          <p:cNvPr id="9" name="TextBox 9"/>
          <p:cNvSpPr txBox="1"/>
          <p:nvPr/>
        </p:nvSpPr>
        <p:spPr>
          <a:xfrm>
            <a:off x="6309360" y="4858089"/>
            <a:ext cx="5029200" cy="76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Leia a matéria completa: </a:t>
            </a:r>
            <a:r>
              <a:rPr lang="pt-BR" sz="1400" b="1">
                <a:solidFill>
                  <a:srgbClr val="29ABE2"/>
                </a:solidFill>
                <a:latin typeface="Calibri"/>
                <a:hlinkClick r:id="rIdR7"/>
              </a:rPr>
              <a:t>R7, 09/07/2023</a:t>
            </a:r>
          </a:p>
          <a:p>
            <a:pPr algn="l">
              <a:spcAft>
                <a:spcPts val="8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Tradução de reportagem do The New York Times (jun. 2023).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737360"/>
            <a:ext cx="9601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IA não decide. Ela prepara a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15468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4398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9601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7ED957"/>
                </a:solidFill>
                <a:latin typeface="Calibri"/>
              </a:rPr>
              <a:t>Supervisão humana significativa é princípio inegociável. Onde ela será obrigatória na sua escola?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006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seguir: ética, inclusão e matriz de riscos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percurso </a:t>
            </a:r>
            <a:r>
              <a:rPr sz="3600" b="1">
                <a:solidFill>
                  <a:srgbClr val="FFFFFF"/>
                </a:solidFill>
                <a:latin typeface="Calibri"/>
              </a:rPr>
              <a:t>do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Da compreensão à decisão institucional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1. Compreender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Fundamentos, ética, inclusão e matriz de riscos.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2. Organizar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Documento da escola: identidade, tom de voz e normas.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3. Testar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Práticas 1, 2 e 3: prompts, assistentes e revisores.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4. Decidir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Laboratório, governança e plano de 30 dias.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Em cada prática: escolha um roteiro e faça a sequência completa.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Acerto não é </a:t>
            </a:r>
            <a:r>
              <a:rPr sz="3600" b="1">
                <a:solidFill>
                  <a:srgbClr val="FFFFFF"/>
                </a:solidFill>
                <a:latin typeface="Calibri"/>
              </a:rPr>
              <a:t>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Newark: qual foi 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777240" y="1828800"/>
            <a:ext cx="5400000" cy="40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</a:rPr>
              <a:t>O erro não foi o principal. </a:t>
            </a:r>
            <a:r>
              <a:rPr lang="pt-BR" sz="1600" b="0">
                <a:solidFill>
                  <a:srgbClr val="FFFFFF"/>
                </a:solidFill>
                <a:latin typeface="Calibri"/>
              </a:rPr>
              <a:t>O tutor fez o raciocínio pelo estudante: a resposta estava certa, mas o aluno não aprendeu a chegar nela.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0">
                <a:solidFill>
                  <a:srgbClr val="FFFFFF"/>
                </a:solidFill>
                <a:latin typeface="Calibri"/>
              </a:rPr>
              <a:t>O distrito disse que sua maior preocupação era o raciocínio ficar a cargo da ferramenta, e não dos alunos.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0">
                <a:solidFill>
                  <a:srgbClr val="FFFFFF"/>
                </a:solidFill>
                <a:latin typeface="Calibri"/>
              </a:rPr>
              <a:t>A Khan Academy reconheceu que o tutor “ajudou demais, depressa demais” e o ajustou. Dias depois, um repórter refez a pergunta e o tutor ainda dava a resposta pronta.</a:t>
            </a:r>
          </a:p>
          <a:p>
            <a:pPr algn="l" marL="285750" indent="-285750">
              <a:spcAft>
                <a:spcPts val="800"/>
              </a:spcAft>
              <a:buFont typeface="Arial"/>
              <a:buChar char="•"/>
            </a:pPr>
            <a:r>
              <a:rPr lang="pt-BR" sz="1600" b="0">
                <a:solidFill>
                  <a:srgbClr val="C9D6E0"/>
                </a:solidFill>
                <a:latin typeface="Calibri"/>
              </a:rPr>
              <a:t>Na turma de 6º ano da mesma escola, o professor usou o tutor como apoio e ganhou tempo para os alunos com mais dificuldade. Mesma ferramenta, outro resultado.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37760" cy="32004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29ABE2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C9D6E0"/>
                </a:solidFill>
                <a:latin typeface="Calibri"/>
              </a:rPr>
              <a:t>Para discutir: o que a escola mede quando diz que uma ferramenta de IA “funciona”? Quem confere se o estudante aprendeu? Que regra de uso evitaria esse problema?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20240" y="5760720"/>
            <a:ext cx="950976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300" b="0">
                <a:solidFill>
                  <a:srgbClr val="C9D6E0"/>
                </a:solidFill>
                <a:latin typeface="Calibri"/>
              </a:rPr>
              <a:t>Outro teste (CNN, ago. 2023): o mesmo tutor rejeitou uma divisão correta e elogiou uma multiplicação errada. Fonte do caso: The New York Times, jun. 2023 (tradução do R7, 09/07/2023).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Um bom prompt </a:t>
            </a:r>
            <a:r>
              <a:rPr sz="3600" b="1">
                <a:solidFill>
                  <a:srgbClr val="FFFFFF"/>
                </a:solidFill>
                <a:latin typeface="Calibri"/>
              </a:rPr>
              <a:t>diz o que você quer obter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Os seis campos, mais dois cuidados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ixa 7"/>
          <p:cNvSpPr txBox="1"/>
          <p:nvPr/>
        </p:nvSpPr>
        <p:spPr>
          <a:xfrm>
            <a:off x="777240" y="1737360"/>
            <a:ext cx="5300000" cy="390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2000" b="1">
                <a:solidFill>
                  <a:srgbClr val="7ED957"/>
                </a:solidFill>
                <a:latin typeface="Calibri"/>
              </a:rPr>
              <a:t>Antes dos seis campos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Diga o que quer obter e para quê: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“um convite às famílias para a palestra de 26/11”.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Diga o que anexou, pelo nome: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“use só o tom de voz e as normas anexados”.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Peça o formato: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tabela, tópicos, até 600 caracteres.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700" b="1">
                <a:solidFill>
                  <a:srgbClr val="FFFFFF"/>
                </a:solidFill>
                <a:latin typeface="Calibri"/>
              </a:rPr>
              <a:t>Ajuste uma coisa por vez </a:t>
            </a:r>
            <a:r>
              <a:rPr lang="pt-BR" sz="1700" b="0">
                <a:solidFill>
                  <a:srgbClr val="FFFFFF"/>
                </a:solidFill>
                <a:latin typeface="Calibri"/>
              </a:rPr>
              <a:t>e diga o que manter.</a:t>
            </a:r>
          </a:p>
        </p:txBody>
      </p:sp>
      <p:sp>
        <p:nvSpPr>
          <p:cNvPr id="8" name="Caixa 8"/>
          <p:cNvSpPr txBox="1"/>
          <p:nvPr/>
        </p:nvSpPr>
        <p:spPr>
          <a:xfrm>
            <a:off x="6400800" y="1737360"/>
            <a:ext cx="4937760" cy="320040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29ABE2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pt-BR" sz="1400" b="1">
                <a:solidFill>
                  <a:srgbClr val="29ABE2"/>
                </a:solidFill>
                <a:latin typeface="Calibri"/>
              </a:rPr>
              <a:t>A FRASE QUE EVITA INVENÇÃO</a:t>
            </a:r>
          </a:p>
          <a:p>
            <a:pPr algn="l">
              <a:spcAft>
                <a:spcPts val="900"/>
              </a:spcAft>
              <a:buNone/>
            </a:pPr>
            <a:r>
              <a:rPr lang="pt-BR" sz="2200" b="1">
                <a:solidFill>
                  <a:srgbClr val="FFFFFF"/>
                </a:solidFill>
                <a:latin typeface="Calibri"/>
              </a:rPr>
              <a:t>“Se faltar alguma informação importante, não invente: pergunte antes de continuar.”</a:t>
            </a:r>
          </a:p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A IA completa lacunas com o que é provável, não com o que é verdade. Esta linha está nos prompts de todos os roteiros.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 tela </a:t>
            </a:r>
            <a:r>
              <a:rPr sz="3600" b="1">
                <a:solidFill>
                  <a:srgbClr val="FFFFFF"/>
                </a:solidFill>
                <a:latin typeface="Calibri"/>
              </a:rPr>
              <a:t>de uma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 que é cada parte, em qualquer plataforma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nfográfico: a tela de uma IA, com 11 partes numeradas" descr="Infográfico: a tela de uma IA, com 11 partes numeradas">
            <a:hlinkClick r:id="rIdGuia"/>
          </p:cNvPr>
          <p:cNvPicPr>
            <a:picLocks noChangeAspect="1"/>
          </p:cNvPicPr>
          <p:nvPr/>
        </p:nvPicPr>
        <p:blipFill>
          <a:blip r:embed="rIdInfo"/>
          <a:stretch>
            <a:fillRect/>
          </a:stretch>
        </p:blipFill>
        <p:spPr>
          <a:xfrm>
            <a:off x="777240" y="1737360"/>
            <a:ext cx="6400800" cy="3840480"/>
          </a:xfrm>
          <a:prstGeom prst="rect">
            <a:avLst/>
          </a:prstGeom>
        </p:spPr>
      </p:pic>
      <p:sp>
        <p:nvSpPr>
          <p:cNvPr id="8" name="Caixa 8"/>
          <p:cNvSpPr txBox="1"/>
          <p:nvPr/>
        </p:nvSpPr>
        <p:spPr>
          <a:xfrm>
            <a:off x="7406640" y="1737360"/>
            <a:ext cx="3050000" cy="38404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800" b="1">
                <a:solidFill>
                  <a:srgbClr val="7ED957"/>
                </a:solidFill>
                <a:latin typeface="Calibri"/>
              </a:rPr>
              <a:t>Para começar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Projetos: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instruções e arquivos fixos.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+ Adicionar: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arquivo, pasta ou projeto.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Conectores: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Drive, Gmail, Agenda, Canva.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Plugins e skills: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habilidades prontas, como a BNCC Computação.</a:t>
            </a:r>
          </a:p>
          <a:p>
            <a:pPr algn="l">
              <a:spcAft>
                <a:spcPts val="700"/>
              </a:spcAft>
              <a:buNone/>
            </a:pPr>
            <a:r>
              <a:rPr lang="pt-BR" sz="1400" b="0">
                <a:solidFill>
                  <a:srgbClr val="C9D6E0"/>
                </a:solidFill>
                <a:latin typeface="Calibri"/>
              </a:rPr>
              <a:t>Os nomes mudam entre plataformas: procure pela função.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Modelo, esforço </a:t>
            </a:r>
            <a:r>
              <a:rPr sz="3600" b="1">
                <a:solidFill>
                  <a:srgbClr val="FFFFFF"/>
                </a:solidFill>
                <a:latin typeface="Calibri"/>
              </a:rPr>
              <a:t>e modo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Três escolhas antes de enviar o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ixa 7"/>
          <p:cNvSpPr txBox="1"/>
          <p:nvPr/>
        </p:nvSpPr>
        <p:spPr>
          <a:xfrm>
            <a:off x="777240" y="1737360"/>
            <a:ext cx="3337560" cy="384048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29ABE2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>
                <a:solidFill>
                  <a:srgbClr val="29ABE2"/>
                </a:solidFill>
                <a:latin typeface="Calibri"/>
              </a:rPr>
              <a:t>QUEM RESPONDE</a:t>
            </a:r>
          </a:p>
          <a:p>
            <a:pPr algn="l">
              <a:spcAft>
                <a:spcPts val="600"/>
              </a:spcAft>
              <a:buNone/>
            </a:pPr>
            <a:r>
              <a:rPr lang="pt-BR" sz="2200" b="1">
                <a:solidFill>
                  <a:srgbClr val="7ED957"/>
                </a:solidFill>
                <a:latin typeface="Calibri"/>
              </a:rPr>
              <a:t>Modelo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Rápido: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legendas e ajustes.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Equilibrado: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comunicados e roteiros.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Mais capaz: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planilhas, revisões, relatórios.</a:t>
            </a:r>
          </a:p>
        </p:txBody>
      </p:sp>
      <p:sp>
        <p:nvSpPr>
          <p:cNvPr id="8" name="Caixa 8"/>
          <p:cNvSpPr txBox="1"/>
          <p:nvPr/>
        </p:nvSpPr>
        <p:spPr>
          <a:xfrm>
            <a:off x="4343400" y="1737360"/>
            <a:ext cx="3337560" cy="384048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29ABE2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>
                <a:solidFill>
                  <a:srgbClr val="29ABE2"/>
                </a:solidFill>
                <a:latin typeface="Calibri"/>
              </a:rPr>
              <a:t>QUANTO PENSA</a:t>
            </a:r>
          </a:p>
          <a:p>
            <a:pPr algn="l">
              <a:spcAft>
                <a:spcPts val="600"/>
              </a:spcAft>
              <a:buNone/>
            </a:pPr>
            <a:r>
              <a:rPr lang="pt-BR" sz="2200" b="1">
                <a:solidFill>
                  <a:srgbClr val="7ED957"/>
                </a:solidFill>
                <a:latin typeface="Calibri"/>
              </a:rPr>
              <a:t>Esforço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Baixo: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“deixe o card 3 mais curto”.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Médio: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a maioria dos textos.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Alto: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números, leis, checklists. Demora mais e gasta mais do limite.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7909560" y="1737360"/>
            <a:ext cx="3337560" cy="3840480"/>
          </a:xfrm>
          <a:prstGeom prst="roundRect">
            <a:avLst/>
          </a:prstGeom>
          <a:solidFill>
            <a:srgbClr val="0F2E45"/>
          </a:solidFill>
          <a:ln w="15875">
            <a:solidFill>
              <a:srgbClr val="29ABE2"/>
            </a:solidFill>
          </a:ln>
        </p:spPr>
        <p:txBody>
          <a:bodyPr wrap="square" anchor="t" lIns="137160" rIns="137160" tIns="109728" bIns="9144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>
                <a:solidFill>
                  <a:srgbClr val="29ABE2"/>
                </a:solidFill>
                <a:latin typeface="Calibri"/>
              </a:rPr>
              <a:t>QUEM DECIDE</a:t>
            </a:r>
          </a:p>
          <a:p>
            <a:pPr algn="l">
              <a:spcAft>
                <a:spcPts val="600"/>
              </a:spcAft>
              <a:buNone/>
            </a:pPr>
            <a:r>
              <a:rPr lang="pt-BR" sz="2200" b="1">
                <a:solidFill>
                  <a:srgbClr val="7ED957"/>
                </a:solidFill>
                <a:latin typeface="Calibri"/>
              </a:rPr>
              <a:t>Modo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Automático: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a plataforma escolhe o modelo ou o agente age sozinho.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Com aprovação: 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você confirma cada ação. Na escola, sempre este.</a:t>
            </a:r>
          </a:p>
        </p:txBody>
      </p:sp>
      <p:sp>
        <p:nvSpPr>
          <p:cNvPr id="10" name="Caixa 10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Extensões: </a:t>
            </a:r>
            <a:r>
              <a:rPr sz="3600" b="1">
                <a:solidFill>
                  <a:srgbClr val="FFFFFF"/>
                </a:solidFill>
                <a:latin typeface="Calibri"/>
              </a:rPr>
              <a:t>a IA que age nos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Lê a aba aberta, clica e preenche, com a sua aprovação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nfográfico: extensões de navegador, fluxo e cuidados" descr="Infográfico: extensões de navegador, fluxo e cuidados">
            <a:hlinkClick r:id="rIdGuia"/>
          </p:cNvPr>
          <p:cNvPicPr>
            <a:picLocks noChangeAspect="1"/>
          </p:cNvPicPr>
          <p:nvPr/>
        </p:nvPicPr>
        <p:blipFill>
          <a:blip r:embed="rIdInfo"/>
          <a:stretch>
            <a:fillRect/>
          </a:stretch>
        </p:blipFill>
        <p:spPr>
          <a:xfrm>
            <a:off x="777240" y="1737360"/>
            <a:ext cx="5878285" cy="3840480"/>
          </a:xfrm>
          <a:prstGeom prst="rect">
            <a:avLst/>
          </a:prstGeom>
        </p:spPr>
      </p:pic>
      <p:sp>
        <p:nvSpPr>
          <p:cNvPr id="8" name="Caixa 8"/>
          <p:cNvSpPr txBox="1"/>
          <p:nvPr/>
        </p:nvSpPr>
        <p:spPr>
          <a:xfrm>
            <a:off x="6884125" y="1737360"/>
            <a:ext cx="4530635" cy="38404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800" b="1">
                <a:solidFill>
                  <a:srgbClr val="7ED957"/>
                </a:solidFill>
                <a:latin typeface="Calibri"/>
              </a:rPr>
              <a:t>Regra de ouro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Perfil de navegador separado,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sem sistemas da escola abertos.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Só os sites necessários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e aprovação manual.</a:t>
            </a:r>
          </a:p>
          <a:p>
            <a:pPr algn="l" marL="285750" indent="-285750">
              <a:spcAft>
                <a:spcPts val="700"/>
              </a:spcAft>
              <a:buFont typeface="Arial"/>
              <a:buChar char="•"/>
            </a:pPr>
            <a:r>
              <a:rPr lang="pt-BR" sz="1500" b="1">
                <a:solidFill>
                  <a:srgbClr val="FFFFFF"/>
                </a:solidFill>
                <a:latin typeface="Calibri"/>
              </a:rPr>
              <a:t>Comece pelo reversível: </a:t>
            </a:r>
            <a:r>
              <a:rPr lang="pt-BR" sz="1500" b="0">
                <a:solidFill>
                  <a:srgbClr val="FFFFFF"/>
                </a:solidFill>
                <a:latin typeface="Calibri"/>
              </a:rPr>
              <a:t>rascunhos, eventos, formulários não publicados.</a:t>
            </a:r>
          </a:p>
        </p:txBody>
      </p:sp>
      <p:sp>
        <p:nvSpPr>
          <p:cNvPr id="9" name="Caixa 9"/>
          <p:cNvSpPr txBox="1"/>
          <p:nvPr/>
        </p:nvSpPr>
        <p:spPr>
          <a:xfrm>
            <a:off x="1920240" y="5943600"/>
            <a:ext cx="9509760" cy="4200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500" b="0">
                <a:solidFill>
                  <a:srgbClr val="C9D6E0"/>
                </a:solidFill>
                <a:latin typeface="Calibri"/>
              </a:rPr>
              <a:t>Orientações completas: </a:t>
            </a:r>
            <a:r>
              <a:rPr lang="pt-BR" sz="1500" b="1">
                <a:solidFill>
                  <a:srgbClr val="29ABE2"/>
                </a:solidFill>
                <a:latin typeface="Calibri"/>
                <a:hlinkClick r:id="rIdGuia"/>
              </a:rPr>
              <a:t>Guia de introdução: a tela de uma IA</a:t>
            </a:r>
            <a:r>
              <a:rPr lang="pt-BR" sz="1500" b="0">
                <a:solidFill>
                  <a:srgbClr val="C9D6E0"/>
                </a:solidFill>
                <a:latin typeface="Calibri"/>
              </a:rPr>
              <a:t> (apoio/fundamentos)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ABE2"/>
      </a:hlink>
      <a:folHlink>
        <a:srgbClr val="7ED95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3783</Words>
  <Application>Microsoft Macintosh PowerPoint</Application>
  <PresentationFormat>Widescreen</PresentationFormat>
  <Paragraphs>347</Paragraphs>
  <Slides>30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Mary Andrioli</cp:lastModifiedBy>
  <cp:revision>7</cp:revision>
  <dcterms:created xsi:type="dcterms:W3CDTF">2013-01-27T09:14:16Z</dcterms:created>
  <dcterms:modified xsi:type="dcterms:W3CDTF">2026-08-18T23:21:28Z</dcterms:modified>
  <cp:category/>
</cp:coreProperties>
</file>